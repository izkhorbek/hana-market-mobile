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424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 Nebor — mahalla hayotini raqamlashtirtiruvchi ilova ustida ishlaymiz. Bugun real muammoni va biz allaqachon qurgan yechimni ko’rsataman.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Bularning hammasini bugun odamlar og’zaki yoki tartibsiz Telegram guruhlari orqali hal qiladi. Natija — behuda vaqt, adolatsizlik, ishonchsizlik.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Marketplace odam oyiga bir-ikki marta ochadi. Gaz yoki mahalla ma’lumoti — har kuni. Biz yuqori chastotali qatlam ustiga savdoni qo’yamiz.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Vaqt to’g’ri: texnologiya tayyor, madaniy asos bor, davlat yo’nalishi bir xil.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Ko’p ishtirokchi slayd bilan keladi. Bizda — real ishlaydigan ilova. Texnik risklarni allaqachon hal qildik.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Davlat "yetkazib ber" dedi; biz "shaffof qil" deymiz. Diqqat: 646-son iqtiboslarini asl hujjatdan tasdiqlang.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himoyalanadigan nisha.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Daromad — auditoriya zichligidan keyin.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Mahsulot — eng kuchli isbot.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Jamoa kuchini 1 jumlada ayting.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Bizga texnik yordam emas — bozorga chiqish, zichlik va grant kerak. Aynan shuni dastur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 O’zbekistonning har bir mahallasi uchun raqamli operatsion tizim quramiz. Gaz navbati — shunchaki boshlanishi.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85800" y="640080"/>
            <a:ext cx="822960" cy="822960"/>
          </a:xfrm>
          <a:prstGeom prst="ellipse">
            <a:avLst/>
          </a:prstGeom>
          <a:solidFill>
            <a:srgbClr val="E86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6309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0000"/>
                </a:solidFill>
              </a:rPr>
              <a:t>🏘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Hana market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971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Mahallaning raqamli markazi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Yaqin-atrofdagi savdo, xizmat va mahalla ma’lumoti — bir ilovada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 market </a:t>
            </a:r>
            <a:r>
              <a:rPr lang="en-US" sz="130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PTA Inkubatsiya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Muammo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HAYOTI TARQOQ VA TARTIBSIZ RAQAMLASHGAN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731520" cy="73152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6824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</a:rPr>
              <a:t>🛒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645920" y="16733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Lokal, ishonchli savdo yo’q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0756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platformalar butun mamlakat bo’ylab — uzoq, spam, ishonchsiz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731520" cy="73152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28254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</a:rPr>
              <a:t>🔧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645920" y="28163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Ishonchli usta topish qiyin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32186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og’izdan-og’izga; katalog yo’q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731520" cy="73152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39684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</a:rPr>
              <a:t>⛽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645920" y="39593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balloni — tartibsiz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43616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Qachon keladi? Qayerda qoldi? Kim oldi? — hech kim bilmaydi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120640"/>
            <a:ext cx="731520" cy="73152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51114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</a:rPr>
              <a:t>📢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645920" y="51023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e’lonlari yo’qoladi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55046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Tarqoq Telegram guruhlarida oqib ketadi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Yechim: Nebor = Mahalla 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ILOVA, TO‘RT "XONA"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  <a:effectLst>
            <a:outerShdw blurRad="76200" dist="25400" dir="5400000" algn="bl" rotWithShape="0">
              <a:srgbClr val="B8C2CC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200253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Yaqin-atrofda P2P savdo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56432" y="17373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  <a:effectLst>
            <a:outerShdw blurRad="76200" dist="25400" dir="5400000" algn="bl" rotWithShape="0">
              <a:srgbClr val="B8C2CC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776472" y="2011680"/>
            <a:ext cx="685800" cy="68580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776472" y="200253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🏘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85032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85032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E’lonlar, hamjamiyat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2784" y="17373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  <a:effectLst>
            <a:outerShdw blurRad="76200" dist="25400" dir="5400000" algn="bl" rotWithShape="0">
              <a:srgbClr val="B8C2CC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592824" y="2011680"/>
            <a:ext cx="685800" cy="68580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92824" y="200253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01384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01384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Usta, repetitor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89136" y="17373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  <a:effectLst>
            <a:outerShdw blurRad="76200" dist="25400" dir="5400000" algn="bl" rotWithShape="0">
              <a:srgbClr val="B8C2CC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409176" y="2011680"/>
            <a:ext cx="685800" cy="685800"/>
          </a:xfrm>
          <a:prstGeom prst="ellipse">
            <a:avLst/>
          </a:prstGeom>
          <a:solidFill>
            <a:srgbClr val="FBE7D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409176" y="200253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⛽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317736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navbati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17736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tarqatish trekeri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3434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53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60120" y="4526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Farqi: raqobatchilar faqat savdo (past chastota).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4983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Nebor = savdo + yuqori chastotali mahalla ma’lumoti/xizmati → HAR KUNLIK ODAT.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aynan hozir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685800" cy="68580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1600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Smartfon va internet qamrovi yuqori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685800" cy="68580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268833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♻️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00200" y="2697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Ikkilamchi bozor (resale) — global va mahalliy o’sish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3794760"/>
            <a:ext cx="685800" cy="68580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37856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🏘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00200" y="37947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— O’zbekistonga xos noyob institut (chet el modellari qila olmaydi)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4892040"/>
            <a:ext cx="685800" cy="685800"/>
          </a:xfrm>
          <a:prstGeom prst="ellipse">
            <a:avLst/>
          </a:prstGeom>
          <a:solidFill>
            <a:srgbClr val="FBE7D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48828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🏛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00200" y="48920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raqamlashtirishga yo’naltirilgan (646-son qaror + Sirdaryo raqamli hisob piloti)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Mahsulot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 EMAS — ISHLAYDIGAN ILOVA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3F8F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Autentifikatsiya (OTP), xavfsiz token, real-time chat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441448"/>
            <a:ext cx="457200" cy="457200"/>
          </a:xfrm>
          <a:prstGeom prst="ellipse">
            <a:avLst/>
          </a:prstGeom>
          <a:solidFill>
            <a:srgbClr val="3F8F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23957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Lokatsiyaga asoslangan bozor + xarita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099816"/>
            <a:ext cx="457200" cy="457200"/>
          </a:xfrm>
          <a:prstGeom prst="ellipse">
            <a:avLst/>
          </a:prstGeom>
          <a:solidFill>
            <a:srgbClr val="3F8F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305409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 — usta katalogi, telefon orqali bog’lanish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758184"/>
            <a:ext cx="457200" cy="457200"/>
          </a:xfrm>
          <a:prstGeom prst="ellipse">
            <a:avLst/>
          </a:prstGeom>
          <a:solidFill>
            <a:srgbClr val="3F8F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371246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navbati — jonli tracker (banner, "sizgacha N uy", navbat)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416552"/>
            <a:ext cx="457200" cy="457200"/>
          </a:xfrm>
          <a:prstGeom prst="ellipse">
            <a:avLst/>
          </a:prstGeom>
          <a:solidFill>
            <a:srgbClr val="3F8F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370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a’zoligi (onboarding)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5074920"/>
            <a:ext cx="457200" cy="457200"/>
          </a:xfrm>
          <a:prstGeom prst="ellipse">
            <a:avLst/>
          </a:prstGeom>
          <a:solidFill>
            <a:srgbClr val="3F8F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7160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Xavfsizlik: bloklash, shikoyat, iOS App Store talablari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6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85800" y="54864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53949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⛽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37360" y="56692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Killer feature: Gaz navbati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926080" y="187452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646-son qaror (2018) gaz ta’minotini majburiy qiladi, raqamli hisob pilotini ko’zda tutadi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Bo’shliq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26080" y="310896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LEKIN "qachon keladi, kim oldi, qayerda qoldi" — xonadon darajasida shaffoflik YO’Q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26080" y="434340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tracker: tarqatuvchining joyi, "sizgacha N uy", adolatli navbat, push. Rais 1 tugma → butun mahalla + Telegram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 bir raqobatchida bu yo’q — bizning noyob wedge’imiz.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Bozor &amp; raqobat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108960" cy="658368"/>
          </a:xfrm>
          <a:prstGeom prst="rect">
            <a:avLst/>
          </a:prstGeom>
          <a:solidFill>
            <a:srgbClr val="15324A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749040" y="1554480"/>
            <a:ext cx="2587752" cy="658368"/>
          </a:xfrm>
          <a:prstGeom prst="rect">
            <a:avLst/>
          </a:prstGeom>
          <a:solidFill>
            <a:srgbClr val="15324A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0" y="155448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Bir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36792" y="1554480"/>
            <a:ext cx="2587752" cy="658368"/>
          </a:xfrm>
          <a:prstGeom prst="rect">
            <a:avLst/>
          </a:prstGeom>
          <a:solidFill>
            <a:srgbClr val="15324A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28232" y="155448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924544" y="1554480"/>
            <a:ext cx="2596896" cy="658368"/>
          </a:xfrm>
          <a:prstGeom prst="rect">
            <a:avLst/>
          </a:prstGeom>
          <a:solidFill>
            <a:srgbClr val="15324A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015984" y="1554480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212848"/>
            <a:ext cx="3108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2128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2212848"/>
            <a:ext cx="25877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0" y="2212848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klassifayd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36792" y="2212848"/>
            <a:ext cx="25877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28232" y="2212848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Carrot klon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24544" y="2212848"/>
            <a:ext cx="2596896" cy="658368"/>
          </a:xfrm>
          <a:prstGeom prst="rect">
            <a:avLst/>
          </a:prstGeom>
          <a:solidFill>
            <a:srgbClr val="FBE7D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015984" y="2212848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2871216"/>
            <a:ext cx="3108960" cy="658368"/>
          </a:xfrm>
          <a:prstGeom prst="rect">
            <a:avLst/>
          </a:prstGeom>
          <a:solidFill>
            <a:srgbClr val="F6F8FA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" y="287121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Yaqin-atrof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49040" y="2871216"/>
            <a:ext cx="2587752" cy="658368"/>
          </a:xfrm>
          <a:prstGeom prst="rect">
            <a:avLst/>
          </a:prstGeom>
          <a:solidFill>
            <a:srgbClr val="F6F8FA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840480" y="2871216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shahar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36792" y="2871216"/>
            <a:ext cx="2587752" cy="658368"/>
          </a:xfrm>
          <a:prstGeom prst="rect">
            <a:avLst/>
          </a:prstGeom>
          <a:solidFill>
            <a:srgbClr val="F6F8FA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28232" y="2871216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924544" y="2871216"/>
            <a:ext cx="2596896" cy="658368"/>
          </a:xfrm>
          <a:prstGeom prst="rect">
            <a:avLst/>
          </a:prstGeom>
          <a:solidFill>
            <a:srgbClr val="FBE7D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015984" y="2871216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3529584"/>
            <a:ext cx="3108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31520" y="35295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Hamjamiyat / mahalla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749040" y="3529584"/>
            <a:ext cx="25877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840480" y="3529584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36792" y="3529584"/>
            <a:ext cx="25877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28232" y="3529584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924544" y="3529584"/>
            <a:ext cx="2596896" cy="658368"/>
          </a:xfrm>
          <a:prstGeom prst="rect">
            <a:avLst/>
          </a:prstGeom>
          <a:solidFill>
            <a:srgbClr val="FBE7D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015984" y="3529584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4187952"/>
            <a:ext cx="3108960" cy="658368"/>
          </a:xfrm>
          <a:prstGeom prst="rect">
            <a:avLst/>
          </a:prstGeom>
          <a:solidFill>
            <a:srgbClr val="F6F8FA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31520" y="418795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/ kommunal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749040" y="4187952"/>
            <a:ext cx="2587752" cy="658368"/>
          </a:xfrm>
          <a:prstGeom prst="rect">
            <a:avLst/>
          </a:prstGeom>
          <a:solidFill>
            <a:srgbClr val="F6F8FA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3840480" y="4187952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336792" y="4187952"/>
            <a:ext cx="2587752" cy="658368"/>
          </a:xfrm>
          <a:prstGeom prst="rect">
            <a:avLst/>
          </a:prstGeom>
          <a:solidFill>
            <a:srgbClr val="F6F8FA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428232" y="4187952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924544" y="4187952"/>
            <a:ext cx="2596896" cy="658368"/>
          </a:xfrm>
          <a:prstGeom prst="rect">
            <a:avLst/>
          </a:prstGeom>
          <a:solidFill>
            <a:srgbClr val="FBE7D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9015984" y="4187952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0080" y="4846320"/>
            <a:ext cx="3108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731520" y="48463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 katalogi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749040" y="4846320"/>
            <a:ext cx="25877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3840480" y="48463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qisman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336792" y="4846320"/>
            <a:ext cx="25877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428232" y="48463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924544" y="4846320"/>
            <a:ext cx="2596896" cy="658368"/>
          </a:xfrm>
          <a:prstGeom prst="rect">
            <a:avLst/>
          </a:prstGeom>
          <a:solidFill>
            <a:srgbClr val="FBE7DF"/>
          </a:solidFill>
          <a:ln w="9525">
            <a:solidFill>
              <a:srgbClr val="DB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9015984" y="4846320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58368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Raqobatchilar savdo maydonida. Nebor — mahalla infratuzilmasi maydonida, u yerda hech kim yo’q.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Biznes-model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  <a:effectLst>
            <a:outerShdw blurRad="76200" dist="25400" dir="5400000" algn="bl" rotWithShape="0">
              <a:srgbClr val="B8C2CC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20025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</a:rPr>
              <a:t>💰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87452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biznes chegirmalari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74520" y="23500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Do’konlar "around me deals" uchun to’laydi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  <a:effectLst>
            <a:outerShdw blurRad="76200" dist="25400" dir="5400000" algn="bl" rotWithShape="0">
              <a:srgbClr val="B8C2CC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92240" y="20025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</a:rPr>
              <a:t>⭐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45236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Ko’tarilgan e’lonlar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52360" y="23500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listings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  <a:effectLst>
            <a:outerShdw blurRad="76200" dist="25400" dir="5400000" algn="bl" rotWithShape="0">
              <a:srgbClr val="B8C2CC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3611880"/>
            <a:ext cx="731520" cy="73152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14400" y="36027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</a:rPr>
              <a:t>🔧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874520" y="3520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 premium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74520" y="39502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Provayderlar uchun ta’rif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2918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  <a:effectLst>
            <a:outerShdw blurRad="76200" dist="25400" dir="5400000" algn="bl" rotWithShape="0">
              <a:srgbClr val="B8C2CC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92240" y="3611880"/>
            <a:ext cx="731520" cy="73152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92240" y="36027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</a:rPr>
              <a:t>🤝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7452360" y="3520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B2B (kelajak)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52360" y="39502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biznes-hamkorlik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Avval yuqori chastotali auditoriya (gaz, mahalla) → keyin mahalliy bizneslar to’laydi.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Holat &amp; traksiya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  <a:effectLst>
            <a:outerShdw blurRad="76200" dist="25400" dir="5400000" algn="bl" rotWithShape="0">
              <a:srgbClr val="B8C2CC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6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Tayyor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Ishlaydigan ilova (iOS/Android)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  <a:effectLst>
            <a:outerShdw blurRad="76200" dist="25400" dir="5400000" algn="bl" rotWithShape="0">
              <a:srgbClr val="B8C2CC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26280" y="2103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6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[N]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2628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/ e’lon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73736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BE2E8"/>
            </a:solidFill>
            <a:prstDash val="solid"/>
          </a:ln>
          <a:effectLst>
            <a:outerShdw blurRad="76200" dist="25400" dir="5400000" algn="bl" rotWithShape="0">
              <a:srgbClr val="B8C2CC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0" y="2103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6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[N]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22960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mahalla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4434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g’oya emas, ijro qila oladigan jamoamiz — buni ishlaydigan mahsulot isbotlaydi.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[Traksiya raqamlarini yoki "pilotga tayyor"ni qo’ying]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Jamoa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KISHI (PTA SHARTI)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74520" y="1920240"/>
            <a:ext cx="1371600" cy="137160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74520" y="1911096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0" dirty="0">
                <a:solidFill>
                  <a:srgbClr val="000000"/>
                </a:solidFill>
              </a:rPr>
              <a:t>👤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109728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[Ism]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/ CTO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349240" y="1920240"/>
            <a:ext cx="1371600" cy="137160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49240" y="1911096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0" dirty="0">
                <a:solidFill>
                  <a:srgbClr val="000000"/>
                </a:solidFill>
              </a:rPr>
              <a:t>👤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457200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[Ism]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/ GTM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23960" y="1920240"/>
            <a:ext cx="1371600" cy="1371600"/>
          </a:xfrm>
          <a:prstGeom prst="ellipse">
            <a:avLst/>
          </a:prstGeom>
          <a:solidFill>
            <a:srgbClr val="EEF2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1911096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0" dirty="0">
                <a:solidFill>
                  <a:srgbClr val="000000"/>
                </a:solidFill>
              </a:rPr>
              <a:t>👤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804672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[Ism]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0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Dizayn / operatsiya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[Tegishli tajriba / yutuqlarni qo’shing]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So’rov &amp; 3 oylik yo’l xaritasi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Inkubatsiyadan kutganimiz: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monetizatsiya mentorligi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Park PR — mahallalarni jalb qilish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— pilotni kengaytirish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Hududgaztaminot bilan koordinatsiya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55448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153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Yo’l xaritasi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0" y="2377440"/>
            <a:ext cx="594360" cy="594360"/>
          </a:xfrm>
          <a:prstGeom prst="ellipse">
            <a:avLst/>
          </a:prstGeom>
          <a:solidFill>
            <a:srgbClr val="E86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83680" y="23682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0" y="2359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1-oy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mahallani to’liq egallash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3337560"/>
            <a:ext cx="594360" cy="594360"/>
          </a:xfrm>
          <a:prstGeom prst="ellipse">
            <a:avLst/>
          </a:prstGeom>
          <a:solidFill>
            <a:srgbClr val="E86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83680" y="33284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3319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0" y="3657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mahalla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4297680"/>
            <a:ext cx="594360" cy="594360"/>
          </a:xfrm>
          <a:prstGeom prst="ellipse">
            <a:avLst/>
          </a:prstGeom>
          <a:solidFill>
            <a:srgbClr val="E86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83680" y="42885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0" y="4279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3-oy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4617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 piloti + Demo Day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E86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6766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0000"/>
                </a:solidFill>
              </a:rPr>
              <a:t>🏘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Vizyon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Bitta mahalladan — butun O’zbekiston mahalla infratuzilmasigacha.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58368" y="4297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— kirish nuqtasi. Keyin suv, elektr, mahalla xizmatlari, mahalliy iqtisodiyot — hammasi Nebor’da.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Rahmat.  ·  [aloqa / telefon]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782</Words>
  <Application>Microsoft Office PowerPoint</Application>
  <PresentationFormat>Widescreen</PresentationFormat>
  <Paragraphs>172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Izkhorbek</cp:lastModifiedBy>
  <cp:revision>3</cp:revision>
  <dcterms:created xsi:type="dcterms:W3CDTF">2026-07-31T00:24:39Z</dcterms:created>
  <dcterms:modified xsi:type="dcterms:W3CDTF">2026-08-10T16:25:04Z</dcterms:modified>
</cp:coreProperties>
</file>