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Biz Nebor — mahalla hayotini raqamlashtirtiruvchi ilova ustida ishlaymiz. Bugun real muammoni va biz allaqachon qurgan yechimni ko’rsataman.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Bularning hammasini bugun odamlar og’zaki yoki tartibsiz Telegram guruhlari orqali hal qiladi. Natija — behuda vaqt, adolatsizlik, ishonchsizlik.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Marketplace odam oyiga bir-ikki marta ochadi. Gaz yoki mahalla ma’lumoti — har kuni. Biz yuqori chastotali qatlam ustiga savdoni qo’yamiz.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Vaqt to’g’ri: texnologiya tayyor, madaniy asos bor, davlat yo’nalishi bir xil.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Ko’p ishtirokchi slayd bilan keladi. Bizda — real ishlaydigan ilova. Texnik risklarni allaqachon hal qildik.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Davlat "yetkazib ber" dedi; biz "shaffof qil" deymiz. Diqqat: 646-son iqtiboslarini asl hujjatdan tasdiqlang.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— himoyalanadigan nisha.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Daromad — auditoriya zichligidan keyin.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Mahsulot — eng kuchli isbot.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Jamoa kuchini 1 jumlada ayting.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Bizga texnik yordam emas — bozorga chiqish, zichlik va grant kerak. Aynan shuni dastur beradi.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Biz O’zbekistonning har bir mahallasi uchun raqamli operatsion tizim quramiz. Gaz navbati — shunchaki boshlanishi.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463040"/>
            <a:ext cx="4206240" cy="4206240"/>
          </a:xfrm>
          <a:prstGeom prst="ellipse">
            <a:avLst/>
          </a:prstGeom>
          <a:solidFill>
            <a:srgbClr val="0E2233"/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297680"/>
            <a:ext cx="3108960" cy="3108960"/>
          </a:xfrm>
          <a:prstGeom prst="ellipse">
            <a:avLst/>
          </a:prstGeom>
          <a:solidFill>
            <a:srgbClr val="1B4160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640080"/>
            <a:ext cx="822960" cy="822960"/>
          </a:xfrm>
          <a:prstGeom prst="ellipse">
            <a:avLst/>
          </a:prstGeom>
          <a:solidFill>
            <a:srgbClr val="E8663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63093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🏘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Nebor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658368" y="29718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Mahallaning raqamli markazi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8368" y="36118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Yaqin-atrofdagi savdo, xizmat va mahalla ma’lumoti — bir ilovada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[Jamoa nomi]</a:t>
            </a:r>
            <a:pPr indent="0" marL="0">
              <a:buNone/>
            </a:pPr>
            <a:r>
              <a:rPr lang="en-US" sz="1300" dirty="0">
                <a:solidFill>
                  <a:srgbClr val="9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PTA Inkubatsiya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Muammo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MAHALLA HAYOTI TARQOQ VA TARTIBSIZ RAQAMLASHGAN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731520" cy="731520"/>
          </a:xfrm>
          <a:prstGeom prst="ellipse">
            <a:avLst/>
          </a:prstGeom>
          <a:solidFill>
            <a:srgbClr val="EEF2F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8249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00000"/>
                </a:solidFill>
              </a:rPr>
              <a:t>🛒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645920" y="167335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Lokal, ishonchli savdo yo’q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207568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Mavjud platformalar butun mamlakat bo’ylab — uzoq, spam, ishonchsiz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85800" y="2834640"/>
            <a:ext cx="731520" cy="731520"/>
          </a:xfrm>
          <a:prstGeom prst="ellipse">
            <a:avLst/>
          </a:prstGeom>
          <a:solidFill>
            <a:srgbClr val="EEF2F5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82549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00000"/>
                </a:solidFill>
              </a:rPr>
              <a:t>🔧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645920" y="281635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Ishonchli usta topish qiyin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45920" y="321868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Faqat og’izdan-og’izga; katalog yo’q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85800" y="3977640"/>
            <a:ext cx="731520" cy="731520"/>
          </a:xfrm>
          <a:prstGeom prst="ellipse">
            <a:avLst/>
          </a:prstGeom>
          <a:solidFill>
            <a:srgbClr val="EEF2F5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96849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00000"/>
                </a:solidFill>
              </a:rPr>
              <a:t>⛽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645920" y="395935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 balloni — tartibsiz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45920" y="436168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Qachon keladi? Qayerda qoldi? Kim oldi? — hech kim bilmaydi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85800" y="5120640"/>
            <a:ext cx="731520" cy="731520"/>
          </a:xfrm>
          <a:prstGeom prst="ellipse">
            <a:avLst/>
          </a:prstGeom>
          <a:solidFill>
            <a:srgbClr val="EEF2F5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511149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00000"/>
                </a:solidFill>
              </a:rPr>
              <a:t>📢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645920" y="510235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Mahalla e’lonlari yo’qoladi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45920" y="550468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Tarqoq Telegram guruhlarida oqib ketadi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Yechim: Nebor = Mahalla OS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ILOVA, TO‘RT "XONA"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6060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BE2E8"/>
            </a:solidFill>
            <a:prstDash val="solid"/>
          </a:ln>
          <a:effectLst>
            <a:outerShdw sx="100000" sy="100000" kx="0" ky="0" algn="bl" rotWithShape="0" blurRad="76200" dist="25400" dir="5400000">
              <a:srgbClr val="B8C2CC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11680"/>
            <a:ext cx="685800" cy="685800"/>
          </a:xfrm>
          <a:prstGeom prst="ellipse">
            <a:avLst/>
          </a:prstGeom>
          <a:solidFill>
            <a:srgbClr val="EEF2F5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0253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🛒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Bozor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32004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Yaqin-atrofda P2P savdo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56432" y="1737360"/>
            <a:ext cx="26060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BE2E8"/>
            </a:solidFill>
            <a:prstDash val="solid"/>
          </a:ln>
          <a:effectLst>
            <a:outerShdw sx="100000" sy="100000" kx="0" ky="0" algn="bl" rotWithShape="0" blurRad="76200" dist="25400" dir="5400000">
              <a:srgbClr val="B8C2CC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76472" y="2011680"/>
            <a:ext cx="685800" cy="685800"/>
          </a:xfrm>
          <a:prstGeom prst="ellipse">
            <a:avLst/>
          </a:prstGeom>
          <a:solidFill>
            <a:srgbClr val="EEF2F5"/>
          </a:solidFill>
          <a:ln/>
        </p:spPr>
      </p:sp>
      <p:sp>
        <p:nvSpPr>
          <p:cNvPr id="11" name="Text 9"/>
          <p:cNvSpPr/>
          <p:nvPr/>
        </p:nvSpPr>
        <p:spPr>
          <a:xfrm>
            <a:off x="3776472" y="200253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🏘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685032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Mahalla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85032" y="32004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E’lonlar, hamjamiyat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72784" y="1737360"/>
            <a:ext cx="26060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BE2E8"/>
            </a:solidFill>
            <a:prstDash val="solid"/>
          </a:ln>
          <a:effectLst>
            <a:outerShdw sx="100000" sy="100000" kx="0" ky="0" algn="bl" rotWithShape="0" blurRad="76200" dist="25400" dir="5400000">
              <a:srgbClr val="B8C2CC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92824" y="2011680"/>
            <a:ext cx="685800" cy="685800"/>
          </a:xfrm>
          <a:prstGeom prst="ellipse">
            <a:avLst/>
          </a:prstGeom>
          <a:solidFill>
            <a:srgbClr val="EEF2F5"/>
          </a:solidFill>
          <a:ln/>
        </p:spPr>
      </p:sp>
      <p:sp>
        <p:nvSpPr>
          <p:cNvPr id="16" name="Text 14"/>
          <p:cNvSpPr/>
          <p:nvPr/>
        </p:nvSpPr>
        <p:spPr>
          <a:xfrm>
            <a:off x="6592824" y="200253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🔧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501384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Xizmat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01384" y="32004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Usta, repetitor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89136" y="1737360"/>
            <a:ext cx="26060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BE2E8"/>
            </a:solidFill>
            <a:prstDash val="solid"/>
          </a:ln>
          <a:effectLst>
            <a:outerShdw sx="100000" sy="100000" kx="0" ky="0" algn="bl" rotWithShape="0" blurRad="76200" dist="25400" dir="5400000">
              <a:srgbClr val="B8C2CC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409176" y="2011680"/>
            <a:ext cx="685800" cy="685800"/>
          </a:xfrm>
          <a:prstGeom prst="ellipse">
            <a:avLst/>
          </a:prstGeom>
          <a:solidFill>
            <a:srgbClr val="FBE7DF"/>
          </a:solidFill>
          <a:ln/>
        </p:spPr>
      </p:sp>
      <p:sp>
        <p:nvSpPr>
          <p:cNvPr id="21" name="Text 19"/>
          <p:cNvSpPr/>
          <p:nvPr/>
        </p:nvSpPr>
        <p:spPr>
          <a:xfrm>
            <a:off x="9409176" y="200253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⛽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317736" y="2834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 navbati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317736" y="32004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Jonli tarqatish trekeri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3434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15324A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" y="45262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Farqi: raqobatchilar faqat savdo (past chastota).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60120" y="498348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Nebor = savdo + yuqori chastotali mahalla ma’lumoti/xizmati → HAR KUNLIK ODAT.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Nega aynan hozir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600200"/>
            <a:ext cx="685800" cy="685800"/>
          </a:xfrm>
          <a:prstGeom prst="ellipse">
            <a:avLst/>
          </a:prstGeom>
          <a:solidFill>
            <a:srgbClr val="EEF2F5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59105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00200" y="16002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Smartfon va internet qamrovi yuqori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5800" y="2697480"/>
            <a:ext cx="685800" cy="685800"/>
          </a:xfrm>
          <a:prstGeom prst="ellipse">
            <a:avLst/>
          </a:prstGeom>
          <a:solidFill>
            <a:srgbClr val="EEF2F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68833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♻️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600200" y="26974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Ikkilamchi bozor (resale) — global va mahalliy o’sish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85800" y="3794760"/>
            <a:ext cx="685800" cy="685800"/>
          </a:xfrm>
          <a:prstGeom prst="ellipse">
            <a:avLst/>
          </a:prstGeom>
          <a:solidFill>
            <a:srgbClr val="EEF2F5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78561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🏘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600200" y="37947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Mahalla — O’zbekistonga xos noyob institut (chet el modellari qila olmaydi)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5800" y="4892040"/>
            <a:ext cx="685800" cy="685800"/>
          </a:xfrm>
          <a:prstGeom prst="ellipse">
            <a:avLst/>
          </a:prstGeom>
          <a:solidFill>
            <a:srgbClr val="FBE7D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88289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🏛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00200" y="48920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Davlat raqamlashtirishga yo’naltirilgan (646-son qaror + Sirdaryo raqamli hisob piloti)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Mahsulot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SLAYD EMAS — ISHLAYDIGAN ILOVA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457200" cy="457200"/>
          </a:xfrm>
          <a:prstGeom prst="ellipse">
            <a:avLst/>
          </a:prstGeom>
          <a:solidFill>
            <a:srgbClr val="3F8F6B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✓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737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Autentifikatsiya (OTP), xavfsiz token, real-time chat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441448"/>
            <a:ext cx="457200" cy="457200"/>
          </a:xfrm>
          <a:prstGeom prst="ellipse">
            <a:avLst/>
          </a:prstGeom>
          <a:solidFill>
            <a:srgbClr val="3F8F6B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✓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371600" y="2395728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Lokatsiyaga asoslangan bozor + xarita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3099816"/>
            <a:ext cx="457200" cy="457200"/>
          </a:xfrm>
          <a:prstGeom prst="ellipse">
            <a:avLst/>
          </a:prstGeom>
          <a:solidFill>
            <a:srgbClr val="3F8F6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090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✓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3054096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Xizmat — usta katalogi, telefon orqali bog’lanish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3758184"/>
            <a:ext cx="457200" cy="457200"/>
          </a:xfrm>
          <a:prstGeom prst="ellipse">
            <a:avLst/>
          </a:prstGeom>
          <a:solidFill>
            <a:srgbClr val="3F8F6B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712464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 navbati — jonli tracker (banner, "sizgacha N uy", navbat)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4416552"/>
            <a:ext cx="457200" cy="457200"/>
          </a:xfrm>
          <a:prstGeom prst="ellipse">
            <a:avLst/>
          </a:prstGeom>
          <a:solidFill>
            <a:srgbClr val="3F8F6B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✓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4370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Mahalla a’zoligi (onboarding)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31520" y="5074920"/>
            <a:ext cx="457200" cy="457200"/>
          </a:xfrm>
          <a:prstGeom prst="ellipse">
            <a:avLst/>
          </a:prstGeom>
          <a:solidFill>
            <a:srgbClr val="3F8F6B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5065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✓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37160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Xavfsizlik: bloklash, shikoyat, iOS App Store talablari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6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F0805A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548640"/>
            <a:ext cx="868680" cy="86868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539496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⛽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737360" y="566928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Killer feature: Gaz navbati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74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Muammo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926080" y="1874520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646-son qaror (2018) gaz ta’minotini majburiy qiladi, raqamli hisob pilotini ko’zda tutadi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1089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Bo’shliq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926080" y="3108960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LEKIN "qachon keladi, kim oldi, qayerda qoldi" — xonadon darajasida shaffoflik YO’Q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Nebor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926080" y="4343400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Jonli tracker: tarqatuvchining joyi, "sizgacha N uy", adolatli navbat, push. Rais 1 tugma → butun mahalla + Telegram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" y="5806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 bir raqobatchida bu yo’q — bizning noyob wedge’imiz.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Bozor &amp; raqobat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108960" cy="658368"/>
          </a:xfrm>
          <a:prstGeom prst="rect">
            <a:avLst/>
          </a:prstGeom>
          <a:solidFill>
            <a:srgbClr val="15324A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544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749040" y="1554480"/>
            <a:ext cx="2587752" cy="658368"/>
          </a:xfrm>
          <a:prstGeom prst="rect">
            <a:avLst/>
          </a:prstGeom>
          <a:solidFill>
            <a:srgbClr val="15324A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0" y="1554480"/>
            <a:ext cx="2404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Bir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36792" y="1554480"/>
            <a:ext cx="2587752" cy="658368"/>
          </a:xfrm>
          <a:prstGeom prst="rect">
            <a:avLst/>
          </a:prstGeom>
          <a:solidFill>
            <a:srgbClr val="15324A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28232" y="1554480"/>
            <a:ext cx="2404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Mango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924544" y="1554480"/>
            <a:ext cx="2596896" cy="658368"/>
          </a:xfrm>
          <a:prstGeom prst="rect">
            <a:avLst/>
          </a:prstGeom>
          <a:solidFill>
            <a:srgbClr val="15324A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15984" y="1554480"/>
            <a:ext cx="2414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Nebor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212848"/>
            <a:ext cx="3108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212848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2212848"/>
            <a:ext cx="25877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0" y="2212848"/>
            <a:ext cx="2404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Milliy klassifayd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336792" y="2212848"/>
            <a:ext cx="25877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2212848"/>
            <a:ext cx="2404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Carrot klon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24544" y="2212848"/>
            <a:ext cx="2596896" cy="658368"/>
          </a:xfrm>
          <a:prstGeom prst="rect">
            <a:avLst/>
          </a:prstGeom>
          <a:solidFill>
            <a:srgbClr val="FBE7DF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15984" y="2212848"/>
            <a:ext cx="2414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Mahalla OS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2871216"/>
            <a:ext cx="3108960" cy="658368"/>
          </a:xfrm>
          <a:prstGeom prst="rect">
            <a:avLst/>
          </a:prstGeom>
          <a:solidFill>
            <a:srgbClr val="F6F8FA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2871216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Yaqin-atrof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749040" y="2871216"/>
            <a:ext cx="2587752" cy="658368"/>
          </a:xfrm>
          <a:prstGeom prst="rect">
            <a:avLst/>
          </a:prstGeom>
          <a:solidFill>
            <a:srgbClr val="F6F8FA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0" y="2871216"/>
            <a:ext cx="2404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shahar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336792" y="2871216"/>
            <a:ext cx="2587752" cy="658368"/>
          </a:xfrm>
          <a:prstGeom prst="rect">
            <a:avLst/>
          </a:prstGeom>
          <a:solidFill>
            <a:srgbClr val="F6F8FA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28232" y="2871216"/>
            <a:ext cx="2404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924544" y="2871216"/>
            <a:ext cx="2596896" cy="658368"/>
          </a:xfrm>
          <a:prstGeom prst="rect">
            <a:avLst/>
          </a:prstGeom>
          <a:solidFill>
            <a:srgbClr val="FBE7DF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15984" y="2871216"/>
            <a:ext cx="2414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" y="3529584"/>
            <a:ext cx="3108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3529584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Hamjamiyat / mahalla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749040" y="3529584"/>
            <a:ext cx="25877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0" y="3529584"/>
            <a:ext cx="2404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336792" y="3529584"/>
            <a:ext cx="25877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529584"/>
            <a:ext cx="2404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8924544" y="3529584"/>
            <a:ext cx="2596896" cy="658368"/>
          </a:xfrm>
          <a:prstGeom prst="rect">
            <a:avLst/>
          </a:prstGeom>
          <a:solidFill>
            <a:srgbClr val="FBE7DF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15984" y="3529584"/>
            <a:ext cx="2414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40080" y="4187952"/>
            <a:ext cx="3108960" cy="658368"/>
          </a:xfrm>
          <a:prstGeom prst="rect">
            <a:avLst/>
          </a:prstGeom>
          <a:solidFill>
            <a:srgbClr val="F6F8FA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418795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 / kommunal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749040" y="4187952"/>
            <a:ext cx="2587752" cy="658368"/>
          </a:xfrm>
          <a:prstGeom prst="rect">
            <a:avLst/>
          </a:prstGeom>
          <a:solidFill>
            <a:srgbClr val="F6F8FA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0480" y="4187952"/>
            <a:ext cx="2404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336792" y="4187952"/>
            <a:ext cx="2587752" cy="658368"/>
          </a:xfrm>
          <a:prstGeom prst="rect">
            <a:avLst/>
          </a:prstGeom>
          <a:solidFill>
            <a:srgbClr val="F6F8FA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28232" y="4187952"/>
            <a:ext cx="2404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8924544" y="4187952"/>
            <a:ext cx="2596896" cy="658368"/>
          </a:xfrm>
          <a:prstGeom prst="rect">
            <a:avLst/>
          </a:prstGeom>
          <a:solidFill>
            <a:srgbClr val="FBE7DF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015984" y="4187952"/>
            <a:ext cx="2414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640080" y="4846320"/>
            <a:ext cx="3108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484632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Xizmat katalogi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749040" y="4846320"/>
            <a:ext cx="25877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840480" y="4846320"/>
            <a:ext cx="2404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qisman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336792" y="4846320"/>
            <a:ext cx="25877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28232" y="4846320"/>
            <a:ext cx="2404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924544" y="4846320"/>
            <a:ext cx="2596896" cy="658368"/>
          </a:xfrm>
          <a:prstGeom prst="rect">
            <a:avLst/>
          </a:prstGeom>
          <a:solidFill>
            <a:srgbClr val="FBE7DF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015984" y="4846320"/>
            <a:ext cx="2414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58368" y="5852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Raqobatchilar savdo maydonida. Nebor — mahalla infratuzilmasi maydonida, u yerda hech kim yo’q.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Biznes-model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BE2E8"/>
            </a:solidFill>
            <a:prstDash val="solid"/>
          </a:ln>
          <a:effectLst>
            <a:outerShdw sx="100000" sy="100000" kx="0" ky="0" algn="bl" rotWithShape="0" blurRad="76200" dist="25400" dir="5400000">
              <a:srgbClr val="B8C2CC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2011680"/>
            <a:ext cx="731520" cy="731520"/>
          </a:xfrm>
          <a:prstGeom prst="ellipse">
            <a:avLst/>
          </a:prstGeom>
          <a:solidFill>
            <a:srgbClr val="EEF2F5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00253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00000"/>
                </a:solidFill>
              </a:rPr>
              <a:t>💰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874520" y="1920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Mahalliy biznes chegirmalari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874520" y="235000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Do’konlar "around me deals" uchun to’laydi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BE2E8"/>
            </a:solidFill>
            <a:prstDash val="solid"/>
          </a:ln>
          <a:effectLst>
            <a:outerShdw sx="100000" sy="100000" kx="0" ky="0" algn="bl" rotWithShape="0" blurRad="76200" dist="25400" dir="5400000">
              <a:srgbClr val="B8C2CC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0" y="2011680"/>
            <a:ext cx="731520" cy="731520"/>
          </a:xfrm>
          <a:prstGeom prst="ellipse">
            <a:avLst/>
          </a:prstGeom>
          <a:solidFill>
            <a:srgbClr val="EEF2F5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200253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00000"/>
                </a:solidFill>
              </a:rPr>
              <a:t>⭐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7452360" y="1920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Ko’tarilgan e’lonlar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52360" y="235000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 listings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29184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BE2E8"/>
            </a:solidFill>
            <a:prstDash val="solid"/>
          </a:ln>
          <a:effectLst>
            <a:outerShdw sx="100000" sy="100000" kx="0" ky="0" algn="bl" rotWithShape="0" blurRad="76200" dist="25400" dir="5400000">
              <a:srgbClr val="B8C2CC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14400" y="3611880"/>
            <a:ext cx="731520" cy="731520"/>
          </a:xfrm>
          <a:prstGeom prst="ellipse">
            <a:avLst/>
          </a:prstGeom>
          <a:solidFill>
            <a:srgbClr val="EEF2F5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60273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00000"/>
                </a:solidFill>
              </a:rPr>
              <a:t>🔧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874520" y="35204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Xizmat premium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874520" y="395020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Provayderlar uchun ta’rif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29184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BE2E8"/>
            </a:solidFill>
            <a:prstDash val="solid"/>
          </a:ln>
          <a:effectLst>
            <a:outerShdw sx="100000" sy="100000" kx="0" ky="0" algn="bl" rotWithShape="0" blurRad="76200" dist="25400" dir="5400000">
              <a:srgbClr val="B8C2CC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92240" y="3611880"/>
            <a:ext cx="731520" cy="731520"/>
          </a:xfrm>
          <a:prstGeom prst="ellipse">
            <a:avLst/>
          </a:prstGeom>
          <a:solidFill>
            <a:srgbClr val="EEF2F5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360273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00000"/>
                </a:solidFill>
              </a:rPr>
              <a:t>🤝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7452360" y="35204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Mahalla B2B (kelajak)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52360" y="395020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 biznes-hamkorlik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8368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E8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Avval yuqori chastotali auditoriya (gaz, mahalla) → keyin mahalliy bizneslar to’laydi.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Holat &amp; traksiya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34747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BE2E8"/>
            </a:solidFill>
            <a:prstDash val="solid"/>
          </a:ln>
          <a:effectLst>
            <a:outerShdw sx="100000" sy="100000" kx="0" ky="0" algn="bl" rotWithShape="0" blurRad="76200" dist="25400" dir="5400000">
              <a:srgbClr val="B8C2C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1031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6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Tayyor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32004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Ishlaydigan ilova (iOS/Android)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43400" y="1737360"/>
            <a:ext cx="34747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BE2E8"/>
            </a:solidFill>
            <a:prstDash val="solid"/>
          </a:ln>
          <a:effectLst>
            <a:outerShdw sx="100000" sy="100000" kx="0" ky="0" algn="bl" rotWithShape="0" blurRad="76200" dist="25400" dir="5400000">
              <a:srgbClr val="B8C2CC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26280" y="21031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6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[N]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26280" y="32004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Foydalanuvchi / e’lon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0" y="1737360"/>
            <a:ext cx="34747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BE2E8"/>
            </a:solidFill>
            <a:prstDash val="solid"/>
          </a:ln>
          <a:effectLst>
            <a:outerShdw sx="100000" sy="100000" kx="0" ky="0" algn="bl" rotWithShape="0" blurRad="76200" dist="25400" dir="5400000">
              <a:srgbClr val="B8C2CC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0" y="21031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6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[N]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8229600" y="32004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mahalla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4434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 g’oya emas, ijro qila oladigan jamoamiz — buni ishlaydigan mahsulot isbotlaydi.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8368" y="4937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[Traksiya raqamlarini yoki "pilotga tayyor"ni qo’ying]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Jamoa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2–5 KISHI (PTA SHARTI)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874520" y="1920240"/>
            <a:ext cx="1371600" cy="1371600"/>
          </a:xfrm>
          <a:prstGeom prst="ellipse">
            <a:avLst/>
          </a:prstGeom>
          <a:solidFill>
            <a:srgbClr val="EEF2F5"/>
          </a:solidFill>
          <a:ln/>
        </p:spPr>
      </p:sp>
      <p:sp>
        <p:nvSpPr>
          <p:cNvPr id="5" name="Text 3"/>
          <p:cNvSpPr/>
          <p:nvPr/>
        </p:nvSpPr>
        <p:spPr>
          <a:xfrm>
            <a:off x="1874520" y="1911096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dirty="0">
                <a:solidFill>
                  <a:srgbClr val="000000"/>
                </a:solidFill>
              </a:rPr>
              <a:t>👤</a:t>
            </a:r>
            <a:endParaRPr lang="en-US" sz="5100" dirty="0"/>
          </a:p>
        </p:txBody>
      </p:sp>
      <p:sp>
        <p:nvSpPr>
          <p:cNvPr id="6" name="Text 4"/>
          <p:cNvSpPr/>
          <p:nvPr/>
        </p:nvSpPr>
        <p:spPr>
          <a:xfrm>
            <a:off x="1097280" y="3520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[Ism]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3931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Texnik / CTO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349240" y="1920240"/>
            <a:ext cx="1371600" cy="1371600"/>
          </a:xfrm>
          <a:prstGeom prst="ellipse">
            <a:avLst/>
          </a:prstGeom>
          <a:solidFill>
            <a:srgbClr val="EEF2F5"/>
          </a:solidFill>
          <a:ln/>
        </p:spPr>
      </p:sp>
      <p:sp>
        <p:nvSpPr>
          <p:cNvPr id="9" name="Text 7"/>
          <p:cNvSpPr/>
          <p:nvPr/>
        </p:nvSpPr>
        <p:spPr>
          <a:xfrm>
            <a:off x="5349240" y="1911096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dirty="0">
                <a:solidFill>
                  <a:srgbClr val="000000"/>
                </a:solidFill>
              </a:rPr>
              <a:t>👤</a:t>
            </a:r>
            <a:endParaRPr lang="en-US" sz="5100" dirty="0"/>
          </a:p>
        </p:txBody>
      </p:sp>
      <p:sp>
        <p:nvSpPr>
          <p:cNvPr id="10" name="Text 8"/>
          <p:cNvSpPr/>
          <p:nvPr/>
        </p:nvSpPr>
        <p:spPr>
          <a:xfrm>
            <a:off x="4572000" y="3520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[Ism]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0" y="3931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 / GTM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823960" y="1920240"/>
            <a:ext cx="1371600" cy="1371600"/>
          </a:xfrm>
          <a:prstGeom prst="ellipse">
            <a:avLst/>
          </a:prstGeom>
          <a:solidFill>
            <a:srgbClr val="EEF2F5"/>
          </a:solidFill>
          <a:ln/>
        </p:spPr>
      </p:sp>
      <p:sp>
        <p:nvSpPr>
          <p:cNvPr id="13" name="Text 11"/>
          <p:cNvSpPr/>
          <p:nvPr/>
        </p:nvSpPr>
        <p:spPr>
          <a:xfrm>
            <a:off x="8823960" y="1911096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dirty="0">
                <a:solidFill>
                  <a:srgbClr val="000000"/>
                </a:solidFill>
              </a:rPr>
              <a:t>👤</a:t>
            </a:r>
            <a:endParaRPr lang="en-US" sz="5100" dirty="0"/>
          </a:p>
        </p:txBody>
      </p:sp>
      <p:sp>
        <p:nvSpPr>
          <p:cNvPr id="14" name="Text 12"/>
          <p:cNvSpPr/>
          <p:nvPr/>
        </p:nvSpPr>
        <p:spPr>
          <a:xfrm>
            <a:off x="8046720" y="3520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[Ism]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046720" y="3931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Dizayn / operatsiya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8368" y="5120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[Tegishli tajriba / yutuqlarni qo’shing]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So’rov &amp; 3 oylik yo’l xaritasi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Inkubatsiyadan kutganimiz: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&amp; monetizatsiya mentorligi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Park PR — mahallalarni jalb qilish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— pilotni kengaytirish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Hududgaztaminot bilan koordinatsiya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1554480"/>
            <a:ext cx="5212080" cy="3931920"/>
          </a:xfrm>
          <a:prstGeom prst="roundRect">
            <a:avLst>
              <a:gd name="adj" fmla="val 2326"/>
            </a:avLst>
          </a:prstGeom>
          <a:solidFill>
            <a:srgbClr val="15324A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Yo’l xaritasi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0" y="2377440"/>
            <a:ext cx="594360" cy="594360"/>
          </a:xfrm>
          <a:prstGeom prst="ellipse">
            <a:avLst/>
          </a:prstGeom>
          <a:solidFill>
            <a:srgbClr val="E8663A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236829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0" y="23591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1-oy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0" y="26974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Bitta mahallani to’liq egallash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0" y="3337560"/>
            <a:ext cx="594360" cy="594360"/>
          </a:xfrm>
          <a:prstGeom prst="ellipse">
            <a:avLst/>
          </a:prstGeom>
          <a:solidFill>
            <a:srgbClr val="E8663A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332841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33192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2-oy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0" y="36576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mahalla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0" y="4297680"/>
            <a:ext cx="594360" cy="594360"/>
          </a:xfrm>
          <a:prstGeom prst="ellipse">
            <a:avLst/>
          </a:prstGeom>
          <a:solidFill>
            <a:srgbClr val="E86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428853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315200" y="42793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3-oy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315200" y="46177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Monetizatsiya piloti + Demo Day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389120"/>
            <a:ext cx="4023360" cy="4023360"/>
          </a:xfrm>
          <a:prstGeom prst="ellipse">
            <a:avLst/>
          </a:prstGeom>
          <a:solidFill>
            <a:srgbClr val="0E2233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685800"/>
            <a:ext cx="822960" cy="822960"/>
          </a:xfrm>
          <a:prstGeom prst="ellipse">
            <a:avLst/>
          </a:prstGeom>
          <a:solidFill>
            <a:srgbClr val="E8663A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67665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🏘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58368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Vizyon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Bitta mahalladan — butun O’zbekiston mahalla infratuzilmasigacha.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58368" y="4297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 — kirish nuqtasi. Keyin suv, elektr, mahalla xizmatlari, mahalliy iqtisodiyot — hammasi Nebor’da.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Rahmat.  ·  [aloqa / telefon]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2026-07-31T00:24:39Z</dcterms:created>
  <dcterms:modified xsi:type="dcterms:W3CDTF">2026-07-31T00:24:39Z</dcterms:modified>
</cp:coreProperties>
</file>