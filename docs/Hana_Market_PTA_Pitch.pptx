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Biz Hana Market ustida ishlaymiz — mahalla hayotini raqamlashtiruvchi ilova. Bugun real muammoni va biz allaqachon qurib, ishga tushirgan yechimni ko'rsataman.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Bularning hammasini bugun odamlar og'zaki yoki tartibsiz Telegram guruhlari orqali hal qiladi. Natija — behuda vaqt, adolatsizlik, ishonchsizlik.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Marketplace odam oyiga bir-ikki marta ochadi. Gaz yoki mahalla ma'lumoti — har kuni. Biz yuqori chastotali qatlam ustiga savdoni qo'yamiz.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Vaqt to'g'ri: texnologiya tayyor, madaniy asos bor, davlat yo'nalishi bir xil.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Ko'p ishtirokchi slayd bilan keladi. Bizda — Play Store'da nashr etilgan, real ishlaydigan ilova. Texnik risklarni allaqachon hal qildik.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— bizning noyob wedge. Davlat "yetkazib ber" dedi; biz "shaffof va adolatli qil" deymiz. Hech bir raqobatchida bu yo'q.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Gaz taqsimoti odatda adolatsiz — tarqatuvchi oson uylardan boshlaydi. Biz buni algoritm bilan hal qilamiz: davom, prioritet, va ochiq nazorat.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Raqobatchilar savdo maydonida. Biz — mahalla infratuzilmasi maydonida, u yerda hech kim yo'q. Bu himoyalanadigan nisha.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Avval yuqori chastotali auditoriya to'playmiz, keyin mahalliy bizneslar shu auditoriyaga chiqish uchun to'laydi.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Biz g'oya emas, ijro qila oladigan jamoamiz — buni Play Store'da jonli mahsulot va pilot isbotlaydi.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Bizga texnik yordam kerak emas — bizga bozorga chiqish, zichlik va grant kerak. Aynan shuni dastur beradi.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Biz O'zbekistonning har bir mahallasi uchun raqamli operatsion tizim quramiz. Gaz navbati — shunchaki boshlanishi.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754880"/>
            <a:ext cx="2926080" cy="2926080"/>
          </a:xfrm>
          <a:prstGeom prst="ellipse">
            <a:avLst/>
          </a:prstGeom>
          <a:solidFill>
            <a:srgbClr val="017A3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48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HANA MARKET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A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Mahallaning raqamli markazi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Yaqin-atrofdagi savdo, xizmat va gaz navbati — bir ilovada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PTA Inkubatsiya 2026</a:t>
            </a:r>
            <a:pPr indent="0" marL="0">
              <a:buNone/>
            </a:pPr>
            <a:r>
              <a:rPr lang="en-US" sz="1300" dirty="0">
                <a:solidFill>
                  <a:srgbClr val="A9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Play Store'da jonli   ·   [Jamoa nomi]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 hayoti tarqoq va tartibsiz raqamlashgan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8379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2185416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Yaqin-atrofda oldi-sotdi uchun ishonchli, lokal platforma yo'q — mavjudlari butun mamlakat bo'ylab (uzoq, spam, ishonchsiz).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8895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3236976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Ishonchli usta / xizmat topish faqat og'izdan-og'izga.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9410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 balloni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4288536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Tarqatilganda: qachon keladi? qayerda qoldi? kim oldi, kim o'tkazib yuborildi? — xonadon darajasida hech kim bilmaydi.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9926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E'lonlar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34440" y="5340096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 ma'lumoti tarqoq Telegram guruhlarida yo'qolib ketadi.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1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behuda kutish · adolatsiz navbat · mahalla raisiga tartibsiz yuk.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 — Mahalla 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ilova, besh yo'nalish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999427" cy="22860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5746" y="2148840"/>
            <a:ext cx="585216" cy="585216"/>
          </a:xfrm>
          <a:prstGeom prst="ellipse">
            <a:avLst/>
          </a:prstGeom>
          <a:solidFill>
            <a:srgbClr val="017A36"/>
          </a:solidFill>
          <a:ln/>
        </p:spPr>
      </p:sp>
      <p:sp>
        <p:nvSpPr>
          <p:cNvPr id="6" name="Text 4"/>
          <p:cNvSpPr/>
          <p:nvPr/>
        </p:nvSpPr>
        <p:spPr>
          <a:xfrm>
            <a:off x="1255746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190798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310128"/>
            <a:ext cx="181654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Yaqin-atrofda P2P savdo: buyum, avto, ish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22387" y="1920240"/>
            <a:ext cx="1999427" cy="22860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9493" y="2148840"/>
            <a:ext cx="585216" cy="585216"/>
          </a:xfrm>
          <a:prstGeom prst="ellipse">
            <a:avLst/>
          </a:prstGeom>
          <a:solidFill>
            <a:srgbClr val="017A36"/>
          </a:solidFill>
          <a:ln/>
        </p:spPr>
      </p:sp>
      <p:sp>
        <p:nvSpPr>
          <p:cNvPr id="11" name="Text 9"/>
          <p:cNvSpPr/>
          <p:nvPr/>
        </p:nvSpPr>
        <p:spPr>
          <a:xfrm>
            <a:off x="3529493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68107" y="2880360"/>
            <a:ext cx="190798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13827" y="3310128"/>
            <a:ext cx="181654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A'zolik, rais, tasdiqlash, e'lonlar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96134" y="1920240"/>
            <a:ext cx="1999427" cy="22860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03240" y="2148840"/>
            <a:ext cx="585216" cy="585216"/>
          </a:xfrm>
          <a:prstGeom prst="ellipse">
            <a:avLst/>
          </a:prstGeom>
          <a:solidFill>
            <a:srgbClr val="017A36"/>
          </a:solidFill>
          <a:ln/>
        </p:spPr>
      </p:sp>
      <p:sp>
        <p:nvSpPr>
          <p:cNvPr id="16" name="Text 14"/>
          <p:cNvSpPr/>
          <p:nvPr/>
        </p:nvSpPr>
        <p:spPr>
          <a:xfrm>
            <a:off x="5803240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141854" y="2880360"/>
            <a:ext cx="190798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87574" y="3310128"/>
            <a:ext cx="181654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Usta, elektrik, repetitor — telefon orqali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69881" y="1920240"/>
            <a:ext cx="1999427" cy="2286000"/>
          </a:xfrm>
          <a:prstGeom prst="roundRect">
            <a:avLst>
              <a:gd name="adj" fmla="val 5488"/>
            </a:avLst>
          </a:prstGeom>
          <a:solidFill>
            <a:srgbClr val="EAF7F0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76987" y="2148840"/>
            <a:ext cx="585216" cy="585216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21" name="Text 19"/>
          <p:cNvSpPr/>
          <p:nvPr/>
        </p:nvSpPr>
        <p:spPr>
          <a:xfrm>
            <a:off x="8076987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15601" y="2880360"/>
            <a:ext cx="190798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 navbati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61321" y="3310128"/>
            <a:ext cx="181654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Jonli, adolatli tarqatish trekeri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43628" y="1920240"/>
            <a:ext cx="1999427" cy="22860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50734" y="2148840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10350734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89348" y="2880360"/>
            <a:ext cx="190798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Shoshilinch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35068" y="3310128"/>
            <a:ext cx="181654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qisqa raqamlari — bir bosishda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EAF7F0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4400" y="502920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Farqi: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raqobatchilar faqat </a:t>
            </a:r>
            <a:pPr indent="0" marL="0">
              <a:buNone/>
            </a:pPr>
            <a:r>
              <a:rPr lang="en-US" sz="15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savdoni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(past chastota) qamraydi. Hana Market — savdo </a:t>
            </a:r>
            <a:pPr indent="0" marL="0">
              <a:buNone/>
            </a:pPr>
            <a:r>
              <a:rPr lang="en-US" sz="15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yuqori chastotali mahalla ma'lumoti/xizmati/gaz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ustiga qo'yadi → har kunlik foydalanish odati.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aynan hozir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vaqt, to'g'ri joy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7288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21992"/>
            <a:ext cx="548640" cy="54864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21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240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 tayyor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715768"/>
            <a:ext cx="4267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Smartfon va internet qamrovi yuqori — har xonadonda.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5848" y="1965960"/>
            <a:ext cx="527288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1880" y="2221992"/>
            <a:ext cx="548640" cy="54864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11" name="Text 9"/>
          <p:cNvSpPr/>
          <p:nvPr/>
        </p:nvSpPr>
        <p:spPr>
          <a:xfrm>
            <a:off x="6351880" y="2221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55968" y="2240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O'suvchi bozor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55968" y="2715768"/>
            <a:ext cx="4267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Ikkilamchi bozor (resale) va mahalliy xizmatlar talabi o'smoqda.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27288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87952"/>
            <a:ext cx="548640" cy="54864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87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2062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 — noyob institut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681728"/>
            <a:ext cx="4267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O'zbekistonga xos; chet el modellari (Nextdoor, Carrot) buni qamray olmaydi.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95848" y="3931920"/>
            <a:ext cx="527288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1880" y="4187952"/>
            <a:ext cx="548640" cy="54864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21" name="Text 19"/>
          <p:cNvSpPr/>
          <p:nvPr/>
        </p:nvSpPr>
        <p:spPr>
          <a:xfrm>
            <a:off x="6351880" y="4187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55968" y="42062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raqamlashtirishda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55968" y="4681728"/>
            <a:ext cx="4267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646-son qaror gaz ta'minotini majburiy qiladi + raqamli hisob pilotini ko'zda tutadi.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— jonli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Slayd emas — Play Store'da nashr etilgan ishlaydigan ilova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10896" cy="310896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911096"/>
            <a:ext cx="4907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Autentifikatsiya (OTP), xavfsiz token, real-time chat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5848" y="1965960"/>
            <a:ext cx="310896" cy="310896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8" name="Text 6"/>
          <p:cNvSpPr/>
          <p:nvPr/>
        </p:nvSpPr>
        <p:spPr>
          <a:xfrm>
            <a:off x="6095848" y="1965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53048" y="1911096"/>
            <a:ext cx="4907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Lokatsiyaga asoslangan bozor + xarita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310896" cy="310896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243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569464"/>
            <a:ext cx="4907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 katalogi (telefon orqali bog'lanish)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5848" y="2624328"/>
            <a:ext cx="310896" cy="310896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48" y="26243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53048" y="2569464"/>
            <a:ext cx="4907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 navbati — jonli tracker + adolat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310896" cy="310896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227832"/>
            <a:ext cx="4907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 a'zoligi (rais, tasdiqlash, tarqatuvchilar)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95848" y="3282696"/>
            <a:ext cx="310896" cy="310896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20" name="Text 18"/>
          <p:cNvSpPr/>
          <p:nvPr/>
        </p:nvSpPr>
        <p:spPr>
          <a:xfrm>
            <a:off x="6095848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53048" y="3227832"/>
            <a:ext cx="4907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Shoshilinch xizmatlar (davlat qisqa raqamlari)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3941064"/>
            <a:ext cx="310896" cy="310896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41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886200"/>
            <a:ext cx="4907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Xavfsizlik: bloklash, shikoyat, kontent moderatsiyasi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95848" y="3941064"/>
            <a:ext cx="310896" cy="310896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26" name="Text 24"/>
          <p:cNvSpPr/>
          <p:nvPr/>
        </p:nvSpPr>
        <p:spPr>
          <a:xfrm>
            <a:off x="6095848" y="3941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53048" y="3886200"/>
            <a:ext cx="4907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til: o'zbek / rus / ingliz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62356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7F0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" y="576072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Store'da jonli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texnik risklar hal qilingan; endi bozorga chiqish bosqichi.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Killer feature: Gaz navbati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muammo · real qonun bo'shlig'i · real yechim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09728" cy="109728"/>
          </a:xfrm>
          <a:prstGeom prst="rect">
            <a:avLst/>
          </a:prstGeom>
          <a:solidFill>
            <a:srgbClr val="02A34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11096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646-son qaror (2018) — </a:t>
            </a:r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 ta'minotini majburiy qiladi va raqamli hisob pilotini ko'zda tutadi.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944368"/>
            <a:ext cx="109728" cy="109728"/>
          </a:xfrm>
          <a:prstGeom prst="rect">
            <a:avLst/>
          </a:prstGeom>
          <a:solidFill>
            <a:srgbClr val="02A34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43784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Bo'shliq — </a:t>
            </a:r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"qachon keladi, kim oldi, qayerda qoldi" — xonadon darajasida shaffoflik YO'Q.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877056"/>
            <a:ext cx="109728" cy="109728"/>
          </a:xfrm>
          <a:prstGeom prst="rect">
            <a:avLst/>
          </a:prstGeom>
          <a:solidFill>
            <a:srgbClr val="02A34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76472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 — </a:t>
            </a:r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Jonli tracker: tarqatuvchi joyi, "sizgacha N uy", adolatli navbat, push xabar.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809744"/>
            <a:ext cx="109728" cy="109728"/>
          </a:xfrm>
          <a:prstGeom prst="rect">
            <a:avLst/>
          </a:prstGeom>
          <a:solidFill>
            <a:srgbClr val="02A34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70916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 — </a:t>
            </a:r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tugma bilan e'lon → butun mahalla xabardor (Telegram guruhini almashtiradi).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595360" y="1783080"/>
            <a:ext cx="2834640" cy="4480560"/>
          </a:xfrm>
          <a:prstGeom prst="roundRect">
            <a:avLst>
              <a:gd name="adj" fmla="val 8065"/>
            </a:avLst>
          </a:prstGeom>
          <a:solidFill>
            <a:srgbClr val="0F1E16"/>
          </a:solidFill>
          <a:ln w="19050">
            <a:solidFill>
              <a:srgbClr val="02A3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51392" y="2103120"/>
            <a:ext cx="2322576" cy="1051560"/>
          </a:xfrm>
          <a:prstGeom prst="roundRect">
            <a:avLst>
              <a:gd name="adj" fmla="val 8696"/>
            </a:avLst>
          </a:prstGeom>
          <a:solidFill>
            <a:srgbClr val="02A348"/>
          </a:solidFill>
          <a:ln/>
        </p:spPr>
      </p:sp>
      <p:sp>
        <p:nvSpPr>
          <p:cNvPr id="14" name="Text 12"/>
          <p:cNvSpPr/>
          <p:nvPr/>
        </p:nvSpPr>
        <p:spPr>
          <a:xfrm>
            <a:off x="8851392" y="2194560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HOZIR TARQATILYAPTI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51392" y="246888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Sizgacha 3 uy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851392" y="3383280"/>
            <a:ext cx="2322576" cy="457200"/>
          </a:xfrm>
          <a:prstGeom prst="roundRect">
            <a:avLst>
              <a:gd name="adj" fmla="val 12000"/>
            </a:avLst>
          </a:prstGeom>
          <a:solidFill>
            <a:srgbClr val="172A20"/>
          </a:solidFill>
          <a:ln/>
        </p:spPr>
      </p:sp>
      <p:sp>
        <p:nvSpPr>
          <p:cNvPr id="17" name="Text 15"/>
          <p:cNvSpPr/>
          <p:nvPr/>
        </p:nvSpPr>
        <p:spPr>
          <a:xfrm>
            <a:off x="8979408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12-uy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8408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2A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berildi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51392" y="3950208"/>
            <a:ext cx="2322576" cy="457200"/>
          </a:xfrm>
          <a:prstGeom prst="roundRect">
            <a:avLst>
              <a:gd name="adj" fmla="val 12000"/>
            </a:avLst>
          </a:prstGeom>
          <a:solidFill>
            <a:srgbClr val="172A20"/>
          </a:solidFill>
          <a:ln/>
        </p:spPr>
      </p:sp>
      <p:sp>
        <p:nvSpPr>
          <p:cNvPr id="20" name="Text 18"/>
          <p:cNvSpPr/>
          <p:nvPr/>
        </p:nvSpPr>
        <p:spPr>
          <a:xfrm>
            <a:off x="8979408" y="39502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14-uy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0" y="39502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uyda yo'q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51392" y="4517136"/>
            <a:ext cx="2322576" cy="457200"/>
          </a:xfrm>
          <a:prstGeom prst="roundRect">
            <a:avLst>
              <a:gd name="adj" fmla="val 12000"/>
            </a:avLst>
          </a:prstGeom>
          <a:solidFill>
            <a:srgbClr val="172A20"/>
          </a:solidFill>
          <a:ln/>
        </p:spPr>
      </p:sp>
      <p:sp>
        <p:nvSpPr>
          <p:cNvPr id="23" name="Text 21"/>
          <p:cNvSpPr/>
          <p:nvPr/>
        </p:nvSpPr>
        <p:spPr>
          <a:xfrm>
            <a:off x="8979408" y="451713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16-uy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0" y="45171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2A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joriy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51392" y="5084064"/>
            <a:ext cx="2322576" cy="457200"/>
          </a:xfrm>
          <a:prstGeom prst="roundRect">
            <a:avLst>
              <a:gd name="adj" fmla="val 12000"/>
            </a:avLst>
          </a:prstGeom>
          <a:solidFill>
            <a:srgbClr val="172A20"/>
          </a:solidFill>
          <a:ln/>
        </p:spPr>
      </p:sp>
      <p:sp>
        <p:nvSpPr>
          <p:cNvPr id="26" name="Text 24"/>
          <p:cNvSpPr/>
          <p:nvPr/>
        </p:nvSpPr>
        <p:spPr>
          <a:xfrm>
            <a:off x="8979408" y="508406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18-uy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0" y="508406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navbatda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Adolat — algoritm bilan kafolatlanadi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Shaffoflik + adolat = texnik chuqurlik va ijtimoiy ta'sir birga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3818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0509" y="2240280"/>
            <a:ext cx="640080" cy="64008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6" name="Text 4"/>
          <p:cNvSpPr/>
          <p:nvPr/>
        </p:nvSpPr>
        <p:spPr>
          <a:xfrm>
            <a:off x="1940509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30580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Tartibda + qolgan joyidan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29666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Tarqatish xonadonlar tartibida boradi; gaz tugasa keyingi safar 1-uydan emas, to'xtagan joyidan davom etadi.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46778" y="1965960"/>
            <a:ext cx="3423818" cy="3200400"/>
          </a:xfrm>
          <a:prstGeom prst="roundRect">
            <a:avLst>
              <a:gd name="adj" fmla="val 3429"/>
            </a:avLst>
          </a:prstGeom>
          <a:solidFill>
            <a:srgbClr val="EAF7F0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38648" y="2240280"/>
            <a:ext cx="640080" cy="64008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11" name="Text 9"/>
          <p:cNvSpPr/>
          <p:nvPr/>
        </p:nvSpPr>
        <p:spPr>
          <a:xfrm>
            <a:off x="5638648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29658" y="3063240"/>
            <a:ext cx="30580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O'tkazib yuborilganlar birinchi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75378" y="3794760"/>
            <a:ext cx="29666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Uyda yo'q bo'lgan xonadon keyingi tarqatishda ENG BIRINCHI ta'minlanadi — hech kim chetda qolmaydi.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44917" y="1965960"/>
            <a:ext cx="3423818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36786" y="2240280"/>
            <a:ext cx="640080" cy="64008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16" name="Text 14"/>
          <p:cNvSpPr/>
          <p:nvPr/>
        </p:nvSpPr>
        <p:spPr>
          <a:xfrm>
            <a:off x="9336786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127797" y="3063240"/>
            <a:ext cx="30580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Tartib buzilsa — e'lon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73517" y="3794760"/>
            <a:ext cx="29666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Navbat buzilsa butun mahallaga ogohlantirish yuboriladi. Jamoat nazorati — "xalq o'zi talab qiladi".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1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avtomatik bajaradi — "davr" boshqarishsiz, sodda va tushunarli.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va raqobat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Ular savdo maydonida; biz — mahalla infratuzilmasida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9260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0" y="2011680"/>
            <a:ext cx="2722778" cy="548640"/>
          </a:xfrm>
          <a:prstGeom prst="roundRect">
            <a:avLst>
              <a:gd name="adj" fmla="val 8333"/>
            </a:avLst>
          </a:prstGeom>
          <a:solidFill>
            <a:srgbClr val="F3F5F4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2011680"/>
            <a:ext cx="27227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Bir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7498" y="2011680"/>
            <a:ext cx="2722778" cy="548640"/>
          </a:xfrm>
          <a:prstGeom prst="roundRect">
            <a:avLst>
              <a:gd name="adj" fmla="val 8333"/>
            </a:avLst>
          </a:prstGeom>
          <a:solidFill>
            <a:srgbClr val="F3F5F4"/>
          </a:solidFill>
          <a:ln/>
        </p:spPr>
      </p:sp>
      <p:sp>
        <p:nvSpPr>
          <p:cNvPr id="8" name="Text 6"/>
          <p:cNvSpPr/>
          <p:nvPr/>
        </p:nvSpPr>
        <p:spPr>
          <a:xfrm>
            <a:off x="6197498" y="2011680"/>
            <a:ext cx="27227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920277" y="2011680"/>
            <a:ext cx="2722778" cy="548640"/>
          </a:xfrm>
          <a:prstGeom prst="roundRect">
            <a:avLst>
              <a:gd name="adj" fmla="val 8333"/>
            </a:avLst>
          </a:prstGeom>
          <a:solidFill>
            <a:srgbClr val="02A348"/>
          </a:solidFill>
          <a:ln/>
        </p:spPr>
      </p:sp>
      <p:sp>
        <p:nvSpPr>
          <p:cNvPr id="10" name="Text 8"/>
          <p:cNvSpPr/>
          <p:nvPr/>
        </p:nvSpPr>
        <p:spPr>
          <a:xfrm>
            <a:off x="8920277" y="2011680"/>
            <a:ext cx="27227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Hana Market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2606040"/>
            <a:ext cx="25398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klassifayd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88938" y="2606040"/>
            <a:ext cx="25398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Carrot klon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20277" y="2606040"/>
            <a:ext cx="2722778" cy="566928"/>
          </a:xfrm>
          <a:prstGeom prst="rect">
            <a:avLst/>
          </a:prstGeom>
          <a:solidFill>
            <a:srgbClr val="EAF7F0"/>
          </a:solidFill>
          <a:ln/>
        </p:spPr>
      </p:sp>
      <p:sp>
        <p:nvSpPr>
          <p:cNvPr id="15" name="Text 13"/>
          <p:cNvSpPr/>
          <p:nvPr/>
        </p:nvSpPr>
        <p:spPr>
          <a:xfrm>
            <a:off x="9011717" y="2606040"/>
            <a:ext cx="25398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 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11094415" cy="0"/>
          </a:xfrm>
          <a:prstGeom prst="line">
            <a:avLst/>
          </a:prstGeom>
          <a:noFill/>
          <a:ln w="12700">
            <a:solidFill>
              <a:srgbClr val="E4EA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729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Yaqin-atrof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3172968"/>
            <a:ext cx="25398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88938" y="3172968"/>
            <a:ext cx="25398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20277" y="3172968"/>
            <a:ext cx="2722778" cy="566928"/>
          </a:xfrm>
          <a:prstGeom prst="rect">
            <a:avLst/>
          </a:prstGeom>
          <a:solidFill>
            <a:srgbClr val="EAF7F0"/>
          </a:solidFill>
          <a:ln/>
        </p:spPr>
      </p:sp>
      <p:sp>
        <p:nvSpPr>
          <p:cNvPr id="21" name="Text 19"/>
          <p:cNvSpPr/>
          <p:nvPr/>
        </p:nvSpPr>
        <p:spPr>
          <a:xfrm>
            <a:off x="9011717" y="3172968"/>
            <a:ext cx="25398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739896"/>
            <a:ext cx="11094415" cy="0"/>
          </a:xfrm>
          <a:prstGeom prst="line">
            <a:avLst/>
          </a:prstGeom>
          <a:noFill/>
          <a:ln w="12700">
            <a:solidFill>
              <a:srgbClr val="E4EA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3989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Hamjamiyat / mahalla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0" y="3739896"/>
            <a:ext cx="25398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yo'q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88938" y="3739896"/>
            <a:ext cx="25398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yo'q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920277" y="3739896"/>
            <a:ext cx="2722778" cy="566928"/>
          </a:xfrm>
          <a:prstGeom prst="rect">
            <a:avLst/>
          </a:prstGeom>
          <a:solidFill>
            <a:srgbClr val="EAF7F0"/>
          </a:solidFill>
          <a:ln/>
        </p:spPr>
      </p:sp>
      <p:sp>
        <p:nvSpPr>
          <p:cNvPr id="27" name="Text 25"/>
          <p:cNvSpPr/>
          <p:nvPr/>
        </p:nvSpPr>
        <p:spPr>
          <a:xfrm>
            <a:off x="9011717" y="3739896"/>
            <a:ext cx="25398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306824"/>
            <a:ext cx="11094415" cy="0"/>
          </a:xfrm>
          <a:prstGeom prst="line">
            <a:avLst/>
          </a:prstGeom>
          <a:noFill/>
          <a:ln w="12700">
            <a:solidFill>
              <a:srgbClr val="E4EA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30682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 / kommunal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66160" y="4306824"/>
            <a:ext cx="25398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yo'q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88938" y="4306824"/>
            <a:ext cx="25398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yo'q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920277" y="4306824"/>
            <a:ext cx="2722778" cy="566928"/>
          </a:xfrm>
          <a:prstGeom prst="rect">
            <a:avLst/>
          </a:prstGeom>
          <a:solidFill>
            <a:srgbClr val="EAF7F0"/>
          </a:solidFill>
          <a:ln/>
        </p:spPr>
      </p:sp>
      <p:sp>
        <p:nvSpPr>
          <p:cNvPr id="33" name="Text 31"/>
          <p:cNvSpPr/>
          <p:nvPr/>
        </p:nvSpPr>
        <p:spPr>
          <a:xfrm>
            <a:off x="9011717" y="4306824"/>
            <a:ext cx="25398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4873752"/>
            <a:ext cx="11094415" cy="0"/>
          </a:xfrm>
          <a:prstGeom prst="line">
            <a:avLst/>
          </a:prstGeom>
          <a:noFill/>
          <a:ln w="12700">
            <a:solidFill>
              <a:srgbClr val="E4EA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87375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 katalogi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566160" y="4873752"/>
            <a:ext cx="25398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qisman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88938" y="4873752"/>
            <a:ext cx="25398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yo'q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920277" y="4873752"/>
            <a:ext cx="2722778" cy="566928"/>
          </a:xfrm>
          <a:prstGeom prst="rect">
            <a:avLst/>
          </a:prstGeom>
          <a:solidFill>
            <a:srgbClr val="EAF7F0"/>
          </a:solidFill>
          <a:ln/>
        </p:spPr>
      </p:sp>
      <p:sp>
        <p:nvSpPr>
          <p:cNvPr id="39" name="Text 37"/>
          <p:cNvSpPr/>
          <p:nvPr/>
        </p:nvSpPr>
        <p:spPr>
          <a:xfrm>
            <a:off x="9011717" y="4873752"/>
            <a:ext cx="25398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5440680"/>
            <a:ext cx="11094415" cy="0"/>
          </a:xfrm>
          <a:prstGeom prst="line">
            <a:avLst/>
          </a:prstGeom>
          <a:noFill/>
          <a:ln w="12700">
            <a:solidFill>
              <a:srgbClr val="E4EA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1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 — himoyalanadigan nisha: O'zbekistonga xos institut, raqobatchilar qamramagan.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Biznes-model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Avval auditoriya zichligi, keyin daromad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7288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21992"/>
            <a:ext cx="548640" cy="54864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21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2402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Mahalliy biznes reklamasi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715768"/>
            <a:ext cx="4267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"around me" chegirmalari — do'konlar yaqin mijozga chiqish uchun to'laydi.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5848" y="1965960"/>
            <a:ext cx="527288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1880" y="2221992"/>
            <a:ext cx="548640" cy="54864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11" name="Text 9"/>
          <p:cNvSpPr/>
          <p:nvPr/>
        </p:nvSpPr>
        <p:spPr>
          <a:xfrm>
            <a:off x="6351880" y="2221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55968" y="22402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Ko'tarilgan e'lonlar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55968" y="2715768"/>
            <a:ext cx="4267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listings — sotuvchilar ko'proq ko'rinish uchun.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27288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42232"/>
            <a:ext cx="548640" cy="54864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42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160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 provayder premium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636008"/>
            <a:ext cx="4267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Usta/provayderlar uchun profil va ustunlik.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95848" y="3886200"/>
            <a:ext cx="5272888" cy="1645920"/>
          </a:xfrm>
          <a:prstGeom prst="roundRect">
            <a:avLst>
              <a:gd name="adj" fmla="val 6667"/>
            </a:avLst>
          </a:prstGeom>
          <a:solidFill>
            <a:srgbClr val="EAF7F0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1880" y="4142232"/>
            <a:ext cx="548640" cy="5486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6351880" y="4142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55968" y="4160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(kelajak) Mahalla B2B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55968" y="4636008"/>
            <a:ext cx="4267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Kommunal, yetkazib berish, mahalliy iqtisodiyot xizmatlari.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1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Mantiq: yuqori chastotali auditoriya (gaz, mahalla) → keyin bizneslar shu auditoriyaga chiqish uchun to'laydi.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Holat va traksiya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tugadi — bozorga chiqish (pilot) boshlandi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23818" cy="2103120"/>
          </a:xfrm>
          <a:prstGeom prst="roundRect">
            <a:avLst>
              <a:gd name="adj" fmla="val 5217"/>
            </a:avLst>
          </a:prstGeom>
          <a:solidFill>
            <a:srgbClr val="EAF7F0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86000"/>
            <a:ext cx="342381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A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305805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Store'da nashr etilgan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46778" y="2011680"/>
            <a:ext cx="342381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46778" y="2286000"/>
            <a:ext cx="342381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A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429658" y="3246120"/>
            <a:ext cx="305805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mahallada real pilot ishga tushdi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44917" y="2011680"/>
            <a:ext cx="342381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44917" y="2286000"/>
            <a:ext cx="342381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A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127797" y="3246120"/>
            <a:ext cx="305805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+ back-end uchdan-uchgacha ishlaydi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maqsad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502920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Pilotdan takroriy foydalanishni isbotlash (retention, faol sessiyalar, "Oldim" tasdiqlash) → mahalla #2, #3 ga kengaytirish.   [foydalanuvchi/xonadon raqamlarini qo'shing]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· So'rov · Yo'l xaritasi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(2–5 kishi)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[Ism] — texnik / CTO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[Ism] — biznes / GTM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[Ism] — dizayn / operatsiya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Inkubatsiyadan kutamiz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965960"/>
            <a:ext cx="274320" cy="27432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64608" y="19293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&amp; monetizatsiya mentorligi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0560" y="2468880"/>
            <a:ext cx="274320" cy="27432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243230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Park PR — birinchi mahallalar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80560" y="2971800"/>
            <a:ext cx="274320" cy="27432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29352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— pilotni kengaytirish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80560" y="3474720"/>
            <a:ext cx="274320" cy="27432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4608" y="343814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Hududgaztaminot koordinatsiyasi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oylik yo'l xaritasi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0" y="1965960"/>
            <a:ext cx="457200" cy="457200"/>
          </a:xfrm>
          <a:prstGeom prst="ellipse">
            <a:avLst/>
          </a:prstGeom>
          <a:solidFill>
            <a:srgbClr val="017A3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78240" y="19476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1-oy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0" y="22219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mahallani to'liq egallash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0" y="2834640"/>
            <a:ext cx="457200" cy="457200"/>
          </a:xfrm>
          <a:prstGeom prst="ellipse">
            <a:avLst/>
          </a:prstGeom>
          <a:solidFill>
            <a:srgbClr val="017A3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78240" y="28163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778240" y="30906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mahalla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29600" y="3703320"/>
            <a:ext cx="457200" cy="45720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778240" y="36850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3-oy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778240" y="39593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monetizatsiya piloti + Demo Day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120640"/>
            <a:ext cx="11094415" cy="1097280"/>
          </a:xfrm>
          <a:prstGeom prst="roundRect">
            <a:avLst>
              <a:gd name="adj" fmla="val 10000"/>
            </a:avLst>
          </a:prstGeom>
          <a:solidFill>
            <a:srgbClr val="EAF7F0"/>
          </a:solidFill>
          <a:ln w="12700">
            <a:solidFill>
              <a:srgbClr val="E4EAE7"/>
            </a:solidFill>
            <a:prstDash val="solid"/>
          </a:ln>
          <a:effectLst>
            <a:outerShdw sx="100000" sy="100000" kx="0" ky="0" algn="bl" rotWithShape="0" blurRad="101600" dist="25400" dir="5400000">
              <a:srgbClr val="B7C3BC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14400" y="539496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Bizga texnik yordam kerak emas — bizga bozorga chiqish, zichlik va grant kerak.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017A36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280160"/>
            <a:ext cx="3474720" cy="3474720"/>
          </a:xfrm>
          <a:prstGeom prst="ellipse">
            <a:avLst/>
          </a:prstGeom>
          <a:solidFill>
            <a:srgbClr val="02A34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574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mahalladan 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A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butun O'zbekiston mahalla infratuzilmasigacha.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 — kirish nuqtasi. Keyin suv, elektr, mahalla xizmatlari, mahalliy iqtisodiyot — hammasi Hana Market'da.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HANA MARKET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2026-08-10T16:37:05Z</dcterms:created>
  <dcterms:modified xsi:type="dcterms:W3CDTF">2026-08-10T16:37:05Z</dcterms:modified>
</cp:coreProperties>
</file>